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1" d="100"/>
          <a:sy n="71" d="100"/>
        </p:scale>
        <p:origin x="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2/28/2025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aws.amazon.com/console/" TargetMode="Externa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8" Type="http://schemas.openxmlformats.org/officeDocument/2006/relationships/hyperlink" Target="https://docs.aws.amazon.com/IAM/latest/UserGuide/introduction.html" TargetMode="External"/><Relationship Id="rId3" Type="http://schemas.openxmlformats.org/officeDocument/2006/relationships/hyperlink" Target="https://docs.aws.amazon.com/organizations/latest/userguide/orgs_introduction.html" TargetMode="External"/><Relationship Id="rId7" Type="http://schemas.openxmlformats.org/officeDocument/2006/relationships/hyperlink" Target="https://docs.aws.amazon.com/awsaccountbilling/latest/aboutv2/view-billing-dashboard.html" TargetMode="External"/><Relationship Id="rId2" Type="http://schemas.openxmlformats.org/officeDocument/2006/relationships/hyperlink" Target="https://docs.aws.amazon.com/accounts/latest/reference/managing-accounts.html" TargetMode="External"/><Relationship Id="rId1" Type="http://schemas.openxmlformats.org/officeDocument/2006/relationships/slideLayout" Target="../slideLayouts/slideLayout6.xml"/><Relationship Id="rId6" Type="http://schemas.openxmlformats.org/officeDocument/2006/relationships/hyperlink" Target="https://docs.aws.amazon.com/servicequotas/latest/userguide/intro.html" TargetMode="External"/><Relationship Id="rId5" Type="http://schemas.openxmlformats.org/officeDocument/2006/relationships/hyperlink" Target="https://docs.aws.amazon.com/servicequotas/latest/userguide/request-quota-increase.html" TargetMode="External"/><Relationship Id="rId4" Type="http://schemas.openxmlformats.org/officeDocument/2006/relationships/hyperlink" Target="https://docs.aws.amazon.com/AWSEC2/latest/UserGuide/elastic-ip-addresses-eip.html" TargetMode="Externa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1020418"/>
            <a:ext cx="8915399" cy="2001078"/>
          </a:xfrm>
        </p:spPr>
        <p:txBody>
          <a:bodyPr/>
          <a:lstStyle/>
          <a:p>
            <a:r>
              <a:rPr lang="en-IN" dirty="0" smtClean="0"/>
              <a:t>Cloud Computing </a:t>
            </a:r>
            <a:r>
              <a:rPr lang="en-IN" dirty="0"/>
              <a:t>F</a:t>
            </a:r>
            <a:r>
              <a:rPr lang="en-IN" dirty="0" smtClean="0"/>
              <a:t>or Emerging Technologies</a:t>
            </a:r>
            <a:endParaRPr lang="en-IN" dirty="0"/>
          </a:p>
        </p:txBody>
      </p:sp>
      <p:sp>
        <p:nvSpPr>
          <p:cNvPr id="3" name="Subtitle 2"/>
          <p:cNvSpPr>
            <a:spLocks noGrp="1"/>
          </p:cNvSpPr>
          <p:nvPr>
            <p:ph type="subTitle" idx="1"/>
          </p:nvPr>
        </p:nvSpPr>
        <p:spPr>
          <a:xfrm>
            <a:off x="1896035" y="4074460"/>
            <a:ext cx="10112189" cy="2662516"/>
          </a:xfrm>
        </p:spPr>
        <p:txBody>
          <a:bodyPr>
            <a:normAutofit fontScale="32500" lnSpcReduction="20000"/>
          </a:bodyPr>
          <a:lstStyle/>
          <a:p>
            <a:r>
              <a:rPr lang="en-US" sz="7400" dirty="0" smtClean="0">
                <a:solidFill>
                  <a:srgbClr val="C00000"/>
                </a:solidFill>
              </a:rPr>
              <a:t>Setting </a:t>
            </a:r>
            <a:r>
              <a:rPr lang="en-US" sz="7400" dirty="0">
                <a:solidFill>
                  <a:srgbClr val="C00000"/>
                </a:solidFill>
              </a:rPr>
              <a:t>Up a Cloud Account and Exploring </a:t>
            </a:r>
            <a:r>
              <a:rPr lang="en-US" sz="7400" dirty="0" smtClean="0">
                <a:solidFill>
                  <a:srgbClr val="C00000"/>
                </a:solidFill>
              </a:rPr>
              <a:t> </a:t>
            </a:r>
            <a:r>
              <a:rPr lang="en-US" sz="7400" dirty="0" smtClean="0">
                <a:solidFill>
                  <a:srgbClr val="C00000"/>
                </a:solidFill>
              </a:rPr>
              <a:t>Cloud </a:t>
            </a:r>
            <a:r>
              <a:rPr lang="en-US" sz="7400" dirty="0" smtClean="0">
                <a:solidFill>
                  <a:srgbClr val="C00000"/>
                </a:solidFill>
              </a:rPr>
              <a:t>Services</a:t>
            </a:r>
          </a:p>
          <a:p>
            <a:endParaRPr lang="en-US" sz="3200" dirty="0">
              <a:solidFill>
                <a:srgbClr val="C00000"/>
              </a:solidFill>
            </a:endParaRPr>
          </a:p>
          <a:p>
            <a:r>
              <a:rPr lang="en-US" sz="6200" dirty="0" smtClean="0">
                <a:solidFill>
                  <a:srgbClr val="C00000"/>
                </a:solidFill>
              </a:rPr>
              <a:t>                                                                                </a:t>
            </a:r>
            <a:r>
              <a:rPr lang="en-US" sz="6200" dirty="0" smtClean="0">
                <a:solidFill>
                  <a:schemeClr val="tx1">
                    <a:lumMod val="95000"/>
                    <a:lumOff val="5000"/>
                  </a:schemeClr>
                </a:solidFill>
              </a:rPr>
              <a:t>Name: </a:t>
            </a:r>
            <a:r>
              <a:rPr lang="en-US" sz="6200" dirty="0" err="1" smtClean="0">
                <a:solidFill>
                  <a:schemeClr val="tx1">
                    <a:lumMod val="95000"/>
                    <a:lumOff val="5000"/>
                  </a:schemeClr>
                </a:solidFill>
              </a:rPr>
              <a:t>Vaishnavi</a:t>
            </a:r>
            <a:r>
              <a:rPr lang="en-US" sz="6200" dirty="0" smtClean="0">
                <a:solidFill>
                  <a:schemeClr val="tx1">
                    <a:lumMod val="95000"/>
                    <a:lumOff val="5000"/>
                  </a:schemeClr>
                </a:solidFill>
              </a:rPr>
              <a:t> </a:t>
            </a:r>
            <a:r>
              <a:rPr lang="en-US" sz="6200" dirty="0" err="1" smtClean="0">
                <a:solidFill>
                  <a:schemeClr val="tx1">
                    <a:lumMod val="95000"/>
                    <a:lumOff val="5000"/>
                  </a:schemeClr>
                </a:solidFill>
              </a:rPr>
              <a:t>Purankmath</a:t>
            </a:r>
            <a:endParaRPr lang="en-US" sz="6200" dirty="0" smtClean="0">
              <a:solidFill>
                <a:schemeClr val="tx1">
                  <a:lumMod val="95000"/>
                  <a:lumOff val="5000"/>
                </a:schemeClr>
              </a:solidFill>
            </a:endParaRPr>
          </a:p>
          <a:p>
            <a:r>
              <a:rPr lang="en-US" sz="6200" dirty="0">
                <a:solidFill>
                  <a:schemeClr val="tx1">
                    <a:lumMod val="95000"/>
                    <a:lumOff val="5000"/>
                  </a:schemeClr>
                </a:solidFill>
              </a:rPr>
              <a:t> </a:t>
            </a:r>
            <a:r>
              <a:rPr lang="en-US" sz="6200" dirty="0" smtClean="0">
                <a:solidFill>
                  <a:schemeClr val="tx1">
                    <a:lumMod val="95000"/>
                    <a:lumOff val="5000"/>
                  </a:schemeClr>
                </a:solidFill>
              </a:rPr>
              <a:t>                                                                                Enrollment : 2314405008</a:t>
            </a:r>
          </a:p>
          <a:p>
            <a:r>
              <a:rPr lang="en-US" sz="6200" dirty="0">
                <a:solidFill>
                  <a:schemeClr val="tx1">
                    <a:lumMod val="95000"/>
                    <a:lumOff val="5000"/>
                  </a:schemeClr>
                </a:solidFill>
              </a:rPr>
              <a:t> </a:t>
            </a:r>
            <a:r>
              <a:rPr lang="en-US" sz="6200" dirty="0" smtClean="0">
                <a:solidFill>
                  <a:schemeClr val="tx1">
                    <a:lumMod val="95000"/>
                    <a:lumOff val="5000"/>
                  </a:schemeClr>
                </a:solidFill>
              </a:rPr>
              <a:t>                                                                               Course : BCA(</a:t>
            </a:r>
            <a:r>
              <a:rPr lang="en-US" sz="6200" dirty="0" err="1" smtClean="0">
                <a:solidFill>
                  <a:schemeClr val="tx1">
                    <a:lumMod val="95000"/>
                    <a:lumOff val="5000"/>
                  </a:schemeClr>
                </a:solidFill>
              </a:rPr>
              <a:t>Sem</a:t>
            </a:r>
            <a:r>
              <a:rPr lang="en-US" sz="6200" dirty="0" smtClean="0">
                <a:solidFill>
                  <a:schemeClr val="tx1">
                    <a:lumMod val="95000"/>
                    <a:lumOff val="5000"/>
                  </a:schemeClr>
                </a:solidFill>
              </a:rPr>
              <a:t> 4)</a:t>
            </a:r>
          </a:p>
          <a:p>
            <a:r>
              <a:rPr lang="en-US" sz="6200" dirty="0">
                <a:solidFill>
                  <a:schemeClr val="tx1">
                    <a:lumMod val="95000"/>
                    <a:lumOff val="5000"/>
                  </a:schemeClr>
                </a:solidFill>
              </a:rPr>
              <a:t> </a:t>
            </a:r>
            <a:r>
              <a:rPr lang="en-US" sz="6200" dirty="0" smtClean="0">
                <a:solidFill>
                  <a:schemeClr val="tx1">
                    <a:lumMod val="95000"/>
                    <a:lumOff val="5000"/>
                  </a:schemeClr>
                </a:solidFill>
              </a:rPr>
              <a:t>                                                                                Subject : Emerging technology</a:t>
            </a:r>
            <a:endParaRPr lang="en-IN" sz="6200" dirty="0">
              <a:solidFill>
                <a:srgbClr val="C00000"/>
              </a:solidFill>
            </a:endParaRPr>
          </a:p>
        </p:txBody>
      </p:sp>
    </p:spTree>
    <p:extLst>
      <p:ext uri="{BB962C8B-B14F-4D97-AF65-F5344CB8AC3E}">
        <p14:creationId xmlns:p14="http://schemas.microsoft.com/office/powerpoint/2010/main" val="15244149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8070" y="624110"/>
            <a:ext cx="9556541" cy="1280890"/>
          </a:xfrm>
        </p:spPr>
        <p:txBody>
          <a:bodyPr>
            <a:normAutofit fontScale="90000"/>
          </a:bodyPr>
          <a:lstStyle/>
          <a:p>
            <a:r>
              <a:rPr lang="en-IN" sz="4400" dirty="0" smtClean="0">
                <a:solidFill>
                  <a:srgbClr val="FF0000"/>
                </a:solidFill>
              </a:rPr>
              <a:t>What is Cloud Computing?</a:t>
            </a:r>
            <a:br>
              <a:rPr lang="en-IN" sz="4400" dirty="0" smtClean="0">
                <a:solidFill>
                  <a:srgbClr val="FF0000"/>
                </a:solidFill>
              </a:rPr>
            </a:br>
            <a:r>
              <a:rPr lang="en-IN" dirty="0">
                <a:solidFill>
                  <a:srgbClr val="FF0000"/>
                </a:solidFill>
              </a:rPr>
              <a:t/>
            </a:r>
            <a:br>
              <a:rPr lang="en-IN" dirty="0">
                <a:solidFill>
                  <a:srgbClr val="FF0000"/>
                </a:solidFill>
              </a:rPr>
            </a:br>
            <a:r>
              <a:rPr lang="en-US" sz="3100" b="1" dirty="0">
                <a:solidFill>
                  <a:srgbClr val="002060"/>
                </a:solidFill>
              </a:rPr>
              <a:t>Cloud Computing</a:t>
            </a:r>
            <a:r>
              <a:rPr lang="en-US" sz="3100" dirty="0">
                <a:solidFill>
                  <a:srgbClr val="002060"/>
                </a:solidFill>
              </a:rPr>
              <a:t> means storing and accessing the data and programs on remote servers that are hosted on the internet instead of the computer’s hard drive or local server. Cloud computing is also referred to as Internet-based computing, it is a technology where the resource is provided as a service through the Internet to the user. The data that is stored can be files, images, documents, or any other storable document.</a:t>
            </a:r>
            <a:endParaRPr lang="en-IN" sz="3100" dirty="0">
              <a:solidFill>
                <a:srgbClr val="002060"/>
              </a:solidFill>
            </a:endParaRPr>
          </a:p>
        </p:txBody>
      </p:sp>
    </p:spTree>
    <p:extLst>
      <p:ext uri="{BB962C8B-B14F-4D97-AF65-F5344CB8AC3E}">
        <p14:creationId xmlns:p14="http://schemas.microsoft.com/office/powerpoint/2010/main" val="3080391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4818" y="624109"/>
            <a:ext cx="9569794" cy="1350465"/>
          </a:xfrm>
        </p:spPr>
        <p:txBody>
          <a:bodyPr>
            <a:normAutofit fontScale="90000"/>
          </a:bodyPr>
          <a:lstStyle/>
          <a:p>
            <a:pPr fontAlgn="base"/>
            <a:r>
              <a:rPr lang="en-US" dirty="0">
                <a:solidFill>
                  <a:srgbClr val="FF0000"/>
                </a:solidFill>
              </a:rPr>
              <a:t>The following are some of the Operations that can be performed with Cloud </a:t>
            </a:r>
            <a:r>
              <a:rPr lang="en-US" dirty="0" smtClean="0">
                <a:solidFill>
                  <a:srgbClr val="FF0000"/>
                </a:solidFill>
              </a:rPr>
              <a:t>Computing</a:t>
            </a:r>
            <a:r>
              <a:rPr lang="en-US" dirty="0" smtClean="0">
                <a:solidFill>
                  <a:schemeClr val="accent6">
                    <a:lumMod val="75000"/>
                  </a:schemeClr>
                </a:solidFill>
              </a:rPr>
              <a:t/>
            </a:r>
            <a:br>
              <a:rPr lang="en-US" dirty="0" smtClean="0">
                <a:solidFill>
                  <a:schemeClr val="accent6">
                    <a:lumMod val="75000"/>
                  </a:schemeClr>
                </a:solidFill>
              </a:rPr>
            </a:br>
            <a:r>
              <a:rPr lang="en-US" dirty="0">
                <a:solidFill>
                  <a:schemeClr val="accent6">
                    <a:lumMod val="75000"/>
                  </a:schemeClr>
                </a:solidFill>
              </a:rPr>
              <a:t/>
            </a:r>
            <a:br>
              <a:rPr lang="en-US" dirty="0">
                <a:solidFill>
                  <a:schemeClr val="accent6">
                    <a:lumMod val="75000"/>
                  </a:schemeClr>
                </a:solidFill>
              </a:rPr>
            </a:br>
            <a:r>
              <a:rPr lang="en-US" dirty="0" smtClean="0">
                <a:solidFill>
                  <a:schemeClr val="accent6">
                    <a:lumMod val="75000"/>
                  </a:schemeClr>
                </a:solidFill>
              </a:rPr>
              <a:t/>
            </a:r>
            <a:br>
              <a:rPr lang="en-US" dirty="0" smtClean="0">
                <a:solidFill>
                  <a:schemeClr val="accent6">
                    <a:lumMod val="75000"/>
                  </a:schemeClr>
                </a:solidFill>
              </a:rPr>
            </a:br>
            <a:r>
              <a:rPr lang="en-US" sz="3100" dirty="0" smtClean="0"/>
              <a:t>1.Storage</a:t>
            </a:r>
            <a:r>
              <a:rPr lang="en-US" sz="3100" dirty="0"/>
              <a:t>, backup, and recovery of </a:t>
            </a:r>
            <a:r>
              <a:rPr lang="en-US" sz="3100" dirty="0" smtClean="0"/>
              <a:t>data</a:t>
            </a:r>
            <a:br>
              <a:rPr lang="en-US" sz="3100" dirty="0" smtClean="0"/>
            </a:br>
            <a:r>
              <a:rPr lang="en-US" sz="3100" dirty="0"/>
              <a:t/>
            </a:r>
            <a:br>
              <a:rPr lang="en-US" sz="3100" dirty="0"/>
            </a:br>
            <a:r>
              <a:rPr lang="en-US" sz="3100" dirty="0" smtClean="0"/>
              <a:t>2.Delivery </a:t>
            </a:r>
            <a:r>
              <a:rPr lang="en-US" sz="3100" dirty="0"/>
              <a:t>of software on </a:t>
            </a:r>
            <a:r>
              <a:rPr lang="en-US" sz="3100" dirty="0" smtClean="0"/>
              <a:t>demand</a:t>
            </a:r>
            <a:br>
              <a:rPr lang="en-US" sz="3100" dirty="0" smtClean="0"/>
            </a:br>
            <a:r>
              <a:rPr lang="en-US" sz="3100" dirty="0"/>
              <a:t/>
            </a:r>
            <a:br>
              <a:rPr lang="en-US" sz="3100" dirty="0"/>
            </a:br>
            <a:r>
              <a:rPr lang="en-US" sz="3100" dirty="0" smtClean="0"/>
              <a:t>3.Development </a:t>
            </a:r>
            <a:r>
              <a:rPr lang="en-US" sz="3100" dirty="0"/>
              <a:t>of new applications and </a:t>
            </a:r>
            <a:r>
              <a:rPr lang="en-US" sz="3100" dirty="0" smtClean="0"/>
              <a:t>services</a:t>
            </a:r>
            <a:br>
              <a:rPr lang="en-US" sz="3100" dirty="0" smtClean="0"/>
            </a:br>
            <a:r>
              <a:rPr lang="en-US" sz="3100" dirty="0"/>
              <a:t/>
            </a:r>
            <a:br>
              <a:rPr lang="en-US" sz="3100" dirty="0"/>
            </a:br>
            <a:r>
              <a:rPr lang="en-US" sz="3100" dirty="0" smtClean="0"/>
              <a:t>4.Streaming </a:t>
            </a:r>
            <a:r>
              <a:rPr lang="en-US" sz="3100" dirty="0"/>
              <a:t>videos and audio</a:t>
            </a:r>
            <a:br>
              <a:rPr lang="en-US" sz="3100" dirty="0"/>
            </a:br>
            <a:endParaRPr lang="en-IN" sz="3100" dirty="0">
              <a:solidFill>
                <a:schemeClr val="accent6">
                  <a:lumMod val="75000"/>
                </a:schemeClr>
              </a:solidFill>
            </a:endParaRPr>
          </a:p>
        </p:txBody>
      </p:sp>
    </p:spTree>
    <p:extLst>
      <p:ext uri="{BB962C8B-B14F-4D97-AF65-F5344CB8AC3E}">
        <p14:creationId xmlns:p14="http://schemas.microsoft.com/office/powerpoint/2010/main" val="38187026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036" y="463826"/>
            <a:ext cx="9768576" cy="1179444"/>
          </a:xfrm>
        </p:spPr>
        <p:txBody>
          <a:bodyPr>
            <a:normAutofit/>
          </a:bodyPr>
          <a:lstStyle/>
          <a:p>
            <a:r>
              <a:rPr lang="en-IN" sz="3200" dirty="0" smtClean="0">
                <a:solidFill>
                  <a:srgbClr val="FF0000"/>
                </a:solidFill>
              </a:rPr>
              <a:t>Setting Up Cloud Account AWS(Amazon Web Services)</a:t>
            </a:r>
            <a:endParaRPr lang="en-IN" sz="3200"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92626" y="1881809"/>
            <a:ext cx="8560904" cy="4558748"/>
          </a:xfrm>
          <a:prstGeom prst="rect">
            <a:avLst/>
          </a:prstGeom>
        </p:spPr>
      </p:pic>
    </p:spTree>
    <p:extLst>
      <p:ext uri="{BB962C8B-B14F-4D97-AF65-F5344CB8AC3E}">
        <p14:creationId xmlns:p14="http://schemas.microsoft.com/office/powerpoint/2010/main" val="32351369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2540" y="624110"/>
            <a:ext cx="9742072" cy="939647"/>
          </a:xfrm>
        </p:spPr>
        <p:txBody>
          <a:bodyPr/>
          <a:lstStyle/>
          <a:p>
            <a:r>
              <a:rPr lang="en-IN" dirty="0" smtClean="0">
                <a:solidFill>
                  <a:srgbClr val="FF0000"/>
                </a:solidFill>
              </a:rPr>
              <a:t>Step2: Give your root user mail address</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583" y="1828800"/>
            <a:ext cx="8812696" cy="4359966"/>
          </a:xfrm>
          <a:prstGeom prst="rect">
            <a:avLst/>
          </a:prstGeom>
        </p:spPr>
      </p:pic>
    </p:spTree>
    <p:extLst>
      <p:ext uri="{BB962C8B-B14F-4D97-AF65-F5344CB8AC3E}">
        <p14:creationId xmlns:p14="http://schemas.microsoft.com/office/powerpoint/2010/main" val="2252354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21566" y="624110"/>
            <a:ext cx="9583046" cy="966151"/>
          </a:xfrm>
        </p:spPr>
        <p:txBody>
          <a:bodyPr/>
          <a:lstStyle/>
          <a:p>
            <a:r>
              <a:rPr lang="en-IN" dirty="0" smtClean="0">
                <a:solidFill>
                  <a:srgbClr val="FF0000"/>
                </a:solidFill>
              </a:rPr>
              <a:t>Step 3: Verify your mail address</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7339" y="1908313"/>
            <a:ext cx="8454887" cy="4134678"/>
          </a:xfrm>
          <a:prstGeom prst="rect">
            <a:avLst/>
          </a:prstGeom>
        </p:spPr>
      </p:pic>
    </p:spTree>
    <p:extLst>
      <p:ext uri="{BB962C8B-B14F-4D97-AF65-F5344CB8AC3E}">
        <p14:creationId xmlns:p14="http://schemas.microsoft.com/office/powerpoint/2010/main" val="1371632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20348" y="624110"/>
            <a:ext cx="9384264" cy="1280890"/>
          </a:xfrm>
        </p:spPr>
        <p:txBody>
          <a:bodyPr/>
          <a:lstStyle/>
          <a:p>
            <a:r>
              <a:rPr lang="en-IN" dirty="0" smtClean="0">
                <a:solidFill>
                  <a:srgbClr val="FF0000"/>
                </a:solidFill>
              </a:rPr>
              <a:t>Step 4: Security Verification</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0347" y="1724455"/>
            <a:ext cx="9130748" cy="4596832"/>
          </a:xfrm>
          <a:prstGeom prst="rect">
            <a:avLst/>
          </a:prstGeom>
        </p:spPr>
      </p:pic>
    </p:spTree>
    <p:extLst>
      <p:ext uri="{BB962C8B-B14F-4D97-AF65-F5344CB8AC3E}">
        <p14:creationId xmlns:p14="http://schemas.microsoft.com/office/powerpoint/2010/main" val="33243207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7826" y="450574"/>
            <a:ext cx="9516786" cy="1454426"/>
          </a:xfrm>
        </p:spPr>
        <p:txBody>
          <a:bodyPr/>
          <a:lstStyle/>
          <a:p>
            <a:r>
              <a:rPr lang="en-IN" dirty="0" smtClean="0">
                <a:solidFill>
                  <a:srgbClr val="FF0000"/>
                </a:solidFill>
              </a:rPr>
              <a:t>Step 5: Contact Information</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2924" y="1338470"/>
            <a:ext cx="8326867" cy="5367129"/>
          </a:xfrm>
          <a:prstGeom prst="rect">
            <a:avLst/>
          </a:prstGeom>
        </p:spPr>
      </p:pic>
    </p:spTree>
    <p:extLst>
      <p:ext uri="{BB962C8B-B14F-4D97-AF65-F5344CB8AC3E}">
        <p14:creationId xmlns:p14="http://schemas.microsoft.com/office/powerpoint/2010/main" val="1398983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55304" y="624110"/>
            <a:ext cx="9649307" cy="1280890"/>
          </a:xfrm>
        </p:spPr>
        <p:txBody>
          <a:bodyPr/>
          <a:lstStyle/>
          <a:p>
            <a:r>
              <a:rPr lang="en-IN" dirty="0" smtClean="0">
                <a:solidFill>
                  <a:srgbClr val="FF0000"/>
                </a:solidFill>
              </a:rPr>
              <a:t>Step 6: Payment Method</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9705" y="1523999"/>
            <a:ext cx="6493566" cy="4956313"/>
          </a:xfrm>
          <a:prstGeom prst="rect">
            <a:avLst/>
          </a:prstGeom>
        </p:spPr>
      </p:pic>
    </p:spTree>
    <p:extLst>
      <p:ext uri="{BB962C8B-B14F-4D97-AF65-F5344CB8AC3E}">
        <p14:creationId xmlns:p14="http://schemas.microsoft.com/office/powerpoint/2010/main" val="1510683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288" y="624110"/>
            <a:ext cx="9755324" cy="1164933"/>
          </a:xfrm>
        </p:spPr>
        <p:txBody>
          <a:bodyPr>
            <a:normAutofit fontScale="90000"/>
          </a:bodyPr>
          <a:lstStyle/>
          <a:p>
            <a:r>
              <a:rPr lang="en-IN" dirty="0" smtClean="0">
                <a:solidFill>
                  <a:srgbClr val="FF0000"/>
                </a:solidFill>
              </a:rPr>
              <a:t>Step 7: Payment gateway and payment information and your credit card</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4904" y="2248520"/>
            <a:ext cx="7487477" cy="3847479"/>
          </a:xfrm>
          <a:prstGeom prst="rect">
            <a:avLst/>
          </a:prstGeom>
        </p:spPr>
      </p:pic>
    </p:spTree>
    <p:extLst>
      <p:ext uri="{BB962C8B-B14F-4D97-AF65-F5344CB8AC3E}">
        <p14:creationId xmlns:p14="http://schemas.microsoft.com/office/powerpoint/2010/main" val="3280879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036" y="624110"/>
            <a:ext cx="9768576" cy="1280890"/>
          </a:xfrm>
        </p:spPr>
        <p:txBody>
          <a:bodyPr/>
          <a:lstStyle/>
          <a:p>
            <a:r>
              <a:rPr lang="en-IN" dirty="0" smtClean="0">
                <a:solidFill>
                  <a:srgbClr val="FF0000"/>
                </a:solidFill>
              </a:rPr>
              <a:t>Step 8: Phone Verification</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4307" y="1783867"/>
            <a:ext cx="7832034" cy="4630186"/>
          </a:xfrm>
          <a:prstGeom prst="rect">
            <a:avLst/>
          </a:prstGeom>
        </p:spPr>
      </p:pic>
    </p:spTree>
    <p:extLst>
      <p:ext uri="{BB962C8B-B14F-4D97-AF65-F5344CB8AC3E}">
        <p14:creationId xmlns:p14="http://schemas.microsoft.com/office/powerpoint/2010/main" val="4931631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3026" y="662609"/>
            <a:ext cx="7860263" cy="1441173"/>
          </a:xfrm>
        </p:spPr>
        <p:txBody>
          <a:bodyPr/>
          <a:lstStyle/>
          <a:p>
            <a:r>
              <a:rPr lang="en-IN" dirty="0" smtClean="0">
                <a:solidFill>
                  <a:srgbClr val="FF0000"/>
                </a:solidFill>
              </a:rPr>
              <a:t>Step 9: Confirming your identity</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0678" y="2103782"/>
            <a:ext cx="7275444" cy="3933204"/>
          </a:xfrm>
          <a:prstGeom prst="rect">
            <a:avLst/>
          </a:prstGeom>
        </p:spPr>
      </p:pic>
    </p:spTree>
    <p:extLst>
      <p:ext uri="{BB962C8B-B14F-4D97-AF65-F5344CB8AC3E}">
        <p14:creationId xmlns:p14="http://schemas.microsoft.com/office/powerpoint/2010/main" val="3031359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83026" y="624110"/>
            <a:ext cx="9821585" cy="1280890"/>
          </a:xfrm>
        </p:spPr>
        <p:txBody>
          <a:bodyPr/>
          <a:lstStyle/>
          <a:p>
            <a:r>
              <a:rPr lang="en-IN" dirty="0" smtClean="0">
                <a:solidFill>
                  <a:srgbClr val="FF0000"/>
                </a:solidFill>
              </a:rPr>
              <a:t>Step 10: Registration Confirming Page</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6123" y="2572991"/>
            <a:ext cx="7492034" cy="2714625"/>
          </a:xfrm>
          <a:prstGeom prst="rect">
            <a:avLst/>
          </a:prstGeom>
        </p:spPr>
      </p:pic>
    </p:spTree>
    <p:extLst>
      <p:ext uri="{BB962C8B-B14F-4D97-AF65-F5344CB8AC3E}">
        <p14:creationId xmlns:p14="http://schemas.microsoft.com/office/powerpoint/2010/main" val="2814148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96278" y="516835"/>
            <a:ext cx="9808333" cy="1388165"/>
          </a:xfrm>
        </p:spPr>
        <p:txBody>
          <a:bodyPr>
            <a:normAutofit fontScale="90000"/>
          </a:bodyPr>
          <a:lstStyle/>
          <a:p>
            <a:r>
              <a:rPr lang="en-IN" dirty="0" smtClean="0"/>
              <a:t>Login In </a:t>
            </a:r>
            <a:r>
              <a:rPr lang="en-IN" dirty="0"/>
              <a:t>T</a:t>
            </a:r>
            <a:r>
              <a:rPr lang="en-IN" dirty="0" smtClean="0"/>
              <a:t>o </a:t>
            </a:r>
            <a:r>
              <a:rPr lang="en-IN" dirty="0"/>
              <a:t>T</a:t>
            </a:r>
            <a:r>
              <a:rPr lang="en-IN" dirty="0" smtClean="0"/>
              <a:t>he AWS Console</a:t>
            </a:r>
            <a:br>
              <a:rPr lang="en-IN" dirty="0" smtClean="0"/>
            </a:br>
            <a:r>
              <a:rPr lang="en-IN" dirty="0" smtClean="0"/>
              <a:t/>
            </a:r>
            <a:br>
              <a:rPr lang="en-IN" dirty="0" smtClean="0"/>
            </a:br>
            <a:r>
              <a:rPr lang="en-IN" sz="3100" dirty="0" smtClean="0">
                <a:solidFill>
                  <a:srgbClr val="FF0000"/>
                </a:solidFill>
              </a:rPr>
              <a:t>Step 1:</a:t>
            </a:r>
            <a:r>
              <a:rPr lang="en-US" sz="3100" dirty="0">
                <a:solidFill>
                  <a:srgbClr val="FF0000"/>
                </a:solidFill>
              </a:rPr>
              <a:t>Open your web browser, navigate to </a:t>
            </a:r>
            <a:r>
              <a:rPr lang="en-US" sz="3100" i="1" dirty="0">
                <a:solidFill>
                  <a:srgbClr val="FF0000"/>
                </a:solidFill>
                <a:hlinkClick r:id="rId2"/>
              </a:rPr>
              <a:t>https://aws.amazon.com/console/,</a:t>
            </a:r>
            <a:r>
              <a:rPr lang="en-US" sz="3100" dirty="0">
                <a:solidFill>
                  <a:srgbClr val="FF0000"/>
                </a:solidFill>
                <a:hlinkClick r:id="rId2"/>
              </a:rPr>
              <a:t> </a:t>
            </a:r>
            <a:r>
              <a:rPr lang="en-US" sz="3100" dirty="0">
                <a:solidFill>
                  <a:srgbClr val="FF0000"/>
                </a:solidFill>
              </a:rPr>
              <a:t>and </a:t>
            </a:r>
            <a:r>
              <a:rPr lang="en-US" sz="3100" b="1" dirty="0">
                <a:solidFill>
                  <a:srgbClr val="FF0000"/>
                </a:solidFill>
              </a:rPr>
              <a:t>Click </a:t>
            </a:r>
            <a:r>
              <a:rPr lang="en-US" sz="3100" dirty="0">
                <a:solidFill>
                  <a:srgbClr val="FF0000"/>
                </a:solidFill>
              </a:rPr>
              <a:t>on </a:t>
            </a:r>
            <a:r>
              <a:rPr lang="en-US" sz="3100" b="1" dirty="0">
                <a:solidFill>
                  <a:srgbClr val="FF0000"/>
                </a:solidFill>
              </a:rPr>
              <a:t>sign-in to the console</a:t>
            </a:r>
            <a:r>
              <a:rPr lang="en-US" b="1" dirty="0"/>
              <a:t>.</a:t>
            </a:r>
            <a:endParaRPr lang="en-IN"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26610" y="3140764"/>
            <a:ext cx="6922190" cy="2968488"/>
          </a:xfrm>
          <a:prstGeom prst="rect">
            <a:avLst/>
          </a:prstGeom>
        </p:spPr>
      </p:pic>
    </p:spTree>
    <p:extLst>
      <p:ext uri="{BB962C8B-B14F-4D97-AF65-F5344CB8AC3E}">
        <p14:creationId xmlns:p14="http://schemas.microsoft.com/office/powerpoint/2010/main" val="1926040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69774" y="624110"/>
            <a:ext cx="9834837" cy="1280890"/>
          </a:xfrm>
        </p:spPr>
        <p:txBody>
          <a:bodyPr>
            <a:normAutofit/>
          </a:bodyPr>
          <a:lstStyle/>
          <a:p>
            <a:r>
              <a:rPr lang="en-US" sz="2800" b="1" dirty="0">
                <a:solidFill>
                  <a:srgbClr val="FF0000"/>
                </a:solidFill>
              </a:rPr>
              <a:t>Step 2:</a:t>
            </a:r>
            <a:r>
              <a:rPr lang="en-US" sz="2800" dirty="0">
                <a:solidFill>
                  <a:srgbClr val="FF0000"/>
                </a:solidFill>
              </a:rPr>
              <a:t> Enter the </a:t>
            </a:r>
            <a:r>
              <a:rPr lang="en-US" sz="2800" b="1" dirty="0">
                <a:solidFill>
                  <a:srgbClr val="FF0000"/>
                </a:solidFill>
              </a:rPr>
              <a:t>username </a:t>
            </a:r>
            <a:r>
              <a:rPr lang="en-US" sz="2800" dirty="0">
                <a:solidFill>
                  <a:srgbClr val="FF0000"/>
                </a:solidFill>
              </a:rPr>
              <a:t>which you have chosen while creating the account and </a:t>
            </a:r>
            <a:r>
              <a:rPr lang="en-US" sz="2800" b="1" dirty="0">
                <a:solidFill>
                  <a:srgbClr val="FF0000"/>
                </a:solidFill>
              </a:rPr>
              <a:t>click </a:t>
            </a:r>
            <a:r>
              <a:rPr lang="en-US" sz="2800" dirty="0">
                <a:solidFill>
                  <a:srgbClr val="FF0000"/>
                </a:solidFill>
              </a:rPr>
              <a:t>on </a:t>
            </a:r>
            <a:r>
              <a:rPr lang="en-US" sz="2800" b="1" dirty="0">
                <a:solidFill>
                  <a:srgbClr val="FF0000"/>
                </a:solidFill>
              </a:rPr>
              <a:t>Next</a:t>
            </a:r>
            <a:r>
              <a:rPr lang="en-US" sz="2800" b="1" dirty="0"/>
              <a:t>.</a:t>
            </a:r>
            <a:r>
              <a:rPr lang="en-US" sz="2800" dirty="0"/>
              <a:t> </a:t>
            </a:r>
            <a:endParaRPr lang="en-IN"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3357" y="2014330"/>
            <a:ext cx="8388626" cy="4147930"/>
          </a:xfrm>
          <a:prstGeom prst="rect">
            <a:avLst/>
          </a:prstGeom>
        </p:spPr>
      </p:pic>
    </p:spTree>
    <p:extLst>
      <p:ext uri="{BB962C8B-B14F-4D97-AF65-F5344CB8AC3E}">
        <p14:creationId xmlns:p14="http://schemas.microsoft.com/office/powerpoint/2010/main" val="1926732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9530" y="624110"/>
            <a:ext cx="9795081" cy="1178186"/>
          </a:xfrm>
        </p:spPr>
        <p:txBody>
          <a:bodyPr>
            <a:normAutofit fontScale="90000"/>
          </a:bodyPr>
          <a:lstStyle/>
          <a:p>
            <a:r>
              <a:rPr lang="en-US" b="1" dirty="0">
                <a:solidFill>
                  <a:srgbClr val="FF0000"/>
                </a:solidFill>
              </a:rPr>
              <a:t>Step 3: </a:t>
            </a:r>
            <a:r>
              <a:rPr lang="en-US" dirty="0">
                <a:solidFill>
                  <a:srgbClr val="FF0000"/>
                </a:solidFill>
              </a:rPr>
              <a:t>Enter the </a:t>
            </a:r>
            <a:r>
              <a:rPr lang="en-US" b="1" dirty="0">
                <a:solidFill>
                  <a:srgbClr val="FF0000"/>
                </a:solidFill>
              </a:rPr>
              <a:t>password</a:t>
            </a:r>
            <a:r>
              <a:rPr lang="en-US" dirty="0">
                <a:solidFill>
                  <a:srgbClr val="FF0000"/>
                </a:solidFill>
              </a:rPr>
              <a:t>, associated with the user and then click on </a:t>
            </a:r>
            <a:r>
              <a:rPr lang="en-US" b="1" dirty="0">
                <a:solidFill>
                  <a:srgbClr val="FF0000"/>
                </a:solidFill>
              </a:rPr>
              <a:t>Sign in</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4660" y="2076218"/>
            <a:ext cx="7739269" cy="3900512"/>
          </a:xfrm>
          <a:prstGeom prst="rect">
            <a:avLst/>
          </a:prstGeom>
        </p:spPr>
      </p:pic>
    </p:spTree>
    <p:extLst>
      <p:ext uri="{BB962C8B-B14F-4D97-AF65-F5344CB8AC3E}">
        <p14:creationId xmlns:p14="http://schemas.microsoft.com/office/powerpoint/2010/main" val="6905671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036" y="624110"/>
            <a:ext cx="9768576" cy="1280890"/>
          </a:xfrm>
        </p:spPr>
        <p:txBody>
          <a:bodyPr>
            <a:normAutofit fontScale="90000"/>
          </a:bodyPr>
          <a:lstStyle/>
          <a:p>
            <a:r>
              <a:rPr lang="en-US" b="1" dirty="0">
                <a:solidFill>
                  <a:srgbClr val="FF0000"/>
                </a:solidFill>
              </a:rPr>
              <a:t>Step 4:</a:t>
            </a:r>
            <a:r>
              <a:rPr lang="en-US" dirty="0">
                <a:solidFill>
                  <a:srgbClr val="FF0000"/>
                </a:solidFill>
              </a:rPr>
              <a:t> You can see the below home screen after you log in. </a:t>
            </a:r>
            <a:br>
              <a:rPr lang="en-US" dirty="0">
                <a:solidFill>
                  <a:srgbClr val="FF0000"/>
                </a:solidFill>
              </a:rPr>
            </a:br>
            <a:r>
              <a:rPr lang="en-US" dirty="0"/>
              <a:t/>
            </a:r>
            <a:br>
              <a:rPr lang="en-US" dirty="0"/>
            </a:b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7183" y="2157412"/>
            <a:ext cx="7487478" cy="3580779"/>
          </a:xfrm>
          <a:prstGeom prst="rect">
            <a:avLst/>
          </a:prstGeom>
        </p:spPr>
      </p:pic>
    </p:spTree>
    <p:extLst>
      <p:ext uri="{BB962C8B-B14F-4D97-AF65-F5344CB8AC3E}">
        <p14:creationId xmlns:p14="http://schemas.microsoft.com/office/powerpoint/2010/main" val="2856507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2052" y="624110"/>
            <a:ext cx="9662559" cy="1280890"/>
          </a:xfrm>
        </p:spPr>
        <p:txBody>
          <a:bodyPr>
            <a:noAutofit/>
          </a:bodyPr>
          <a:lstStyle/>
          <a:p>
            <a:r>
              <a:rPr lang="en-US" sz="3200" dirty="0">
                <a:solidFill>
                  <a:srgbClr val="FF0000"/>
                </a:solidFill>
              </a:rPr>
              <a:t>Console </a:t>
            </a:r>
            <a:r>
              <a:rPr lang="en-US" sz="3200" dirty="0" smtClean="0">
                <a:solidFill>
                  <a:srgbClr val="FF0000"/>
                </a:solidFill>
              </a:rPr>
              <a:t>Home</a:t>
            </a:r>
            <a:br>
              <a:rPr lang="en-US" sz="3200" dirty="0" smtClean="0">
                <a:solidFill>
                  <a:srgbClr val="FF0000"/>
                </a:solidFill>
              </a:rPr>
            </a:br>
            <a:r>
              <a:rPr lang="en-US" sz="2400" dirty="0">
                <a:solidFill>
                  <a:srgbClr val="FF0000"/>
                </a:solidFill>
              </a:rPr>
              <a:t/>
            </a:r>
            <a:br>
              <a:rPr lang="en-US" sz="2400" dirty="0">
                <a:solidFill>
                  <a:srgbClr val="FF0000"/>
                </a:solidFill>
              </a:rPr>
            </a:br>
            <a:r>
              <a:rPr lang="en-US" sz="2400" dirty="0"/>
              <a:t>After signing up for a new AWS account and logging in, you will see the console dashboard. This is the starting point for interacting with the various AWS services and other important console components. The dashboard consists of a navigation bar at the top and a number of widgets in the main body of the page, which you can configure and rearrange. AWS is developing more widgets so you can further customize your console experience.</a:t>
            </a:r>
            <a:br>
              <a:rPr lang="en-US" sz="2400" dirty="0"/>
            </a:br>
            <a:r>
              <a:rPr lang="en-US" sz="2400" dirty="0"/>
              <a:t/>
            </a:r>
            <a:br>
              <a:rPr lang="en-US" sz="2400" dirty="0"/>
            </a:br>
            <a:r>
              <a:rPr lang="en-US" sz="2400" dirty="0"/>
              <a:t>We will start by taking a look at the navigation bar at the top. In the image to the right, we have highlighted five controls within the navigation bar: </a:t>
            </a:r>
            <a:br>
              <a:rPr lang="en-US" sz="2400" dirty="0"/>
            </a:br>
            <a:endParaRPr lang="en-IN" sz="2400" dirty="0"/>
          </a:p>
        </p:txBody>
      </p:sp>
    </p:spTree>
    <p:extLst>
      <p:ext uri="{BB962C8B-B14F-4D97-AF65-F5344CB8AC3E}">
        <p14:creationId xmlns:p14="http://schemas.microsoft.com/office/powerpoint/2010/main" val="1316846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22784" y="596349"/>
            <a:ext cx="9781828" cy="2385390"/>
          </a:xfrm>
        </p:spPr>
        <p:txBody>
          <a:bodyPr>
            <a:noAutofit/>
          </a:bodyPr>
          <a:lstStyle/>
          <a:p>
            <a:r>
              <a:rPr lang="en-US" sz="2800" dirty="0" smtClean="0"/>
              <a:t>1.Account </a:t>
            </a:r>
            <a:r>
              <a:rPr lang="en-US" sz="2800" dirty="0"/>
              <a:t>information</a:t>
            </a:r>
            <a:br>
              <a:rPr lang="en-US" sz="2800" dirty="0"/>
            </a:br>
            <a:r>
              <a:rPr lang="en-US" sz="2800" dirty="0" smtClean="0"/>
              <a:t>2.Region </a:t>
            </a:r>
            <a:r>
              <a:rPr lang="en-US" sz="2800" dirty="0"/>
              <a:t>selector</a:t>
            </a:r>
            <a:br>
              <a:rPr lang="en-US" sz="2800" dirty="0"/>
            </a:br>
            <a:r>
              <a:rPr lang="en-US" sz="2800" dirty="0" smtClean="0"/>
              <a:t>3.Service </a:t>
            </a:r>
            <a:r>
              <a:rPr lang="en-US" sz="2800" dirty="0"/>
              <a:t>selector</a:t>
            </a:r>
            <a:br>
              <a:rPr lang="en-US" sz="2800" dirty="0"/>
            </a:br>
            <a:r>
              <a:rPr lang="en-US" sz="2800" dirty="0" smtClean="0"/>
              <a:t>4.Search </a:t>
            </a:r>
            <a:r>
              <a:rPr lang="en-US" sz="2800" dirty="0"/>
              <a:t>box</a:t>
            </a:r>
            <a:br>
              <a:rPr lang="en-US" sz="2800" dirty="0"/>
            </a:br>
            <a:r>
              <a:rPr lang="en-US" sz="2800" dirty="0" smtClean="0"/>
              <a:t>5.AWS </a:t>
            </a:r>
            <a:r>
              <a:rPr lang="en-US" sz="2800" dirty="0" err="1"/>
              <a:t>CloudShell</a:t>
            </a:r>
            <a:r>
              <a:rPr lang="en-US" sz="2800" dirty="0"/>
              <a:t/>
            </a:r>
            <a:br>
              <a:rPr lang="en-US" sz="2800" dirty="0"/>
            </a:br>
            <a:endParaRPr lang="en-IN" sz="28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03768" y="2703442"/>
            <a:ext cx="7984463" cy="3922645"/>
          </a:xfrm>
          <a:prstGeom prst="rect">
            <a:avLst/>
          </a:prstGeom>
        </p:spPr>
      </p:pic>
    </p:spTree>
    <p:extLst>
      <p:ext uri="{BB962C8B-B14F-4D97-AF65-F5344CB8AC3E}">
        <p14:creationId xmlns:p14="http://schemas.microsoft.com/office/powerpoint/2010/main" val="1153748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2296" y="624110"/>
            <a:ext cx="9702315" cy="3523820"/>
          </a:xfrm>
        </p:spPr>
        <p:txBody>
          <a:bodyPr>
            <a:normAutofit/>
          </a:bodyPr>
          <a:lstStyle/>
          <a:p>
            <a:r>
              <a:rPr lang="en-US" sz="2400" dirty="0">
                <a:solidFill>
                  <a:srgbClr val="FF0000"/>
                </a:solidFill>
              </a:rPr>
              <a:t>AWS Account </a:t>
            </a:r>
            <a:r>
              <a:rPr lang="en-US" sz="2400" dirty="0" smtClean="0">
                <a:solidFill>
                  <a:srgbClr val="FF0000"/>
                </a:solidFill>
              </a:rPr>
              <a:t>Information</a:t>
            </a:r>
            <a:br>
              <a:rPr lang="en-US" sz="2400" dirty="0" smtClean="0">
                <a:solidFill>
                  <a:srgbClr val="FF0000"/>
                </a:solidFill>
              </a:rPr>
            </a:br>
            <a:r>
              <a:rPr lang="en-US" sz="2400" dirty="0"/>
              <a:t/>
            </a:r>
            <a:br>
              <a:rPr lang="en-US" sz="2400" dirty="0"/>
            </a:br>
            <a:r>
              <a:rPr lang="en-US" sz="2400" dirty="0"/>
              <a:t>The first highlighted menu contains information and links for your account. It displays the AWS Account ID, and the current user logged in to the console, along with links to navigate to the following pages:</a:t>
            </a:r>
            <a:br>
              <a:rPr lang="en-US" sz="2400" dirty="0"/>
            </a:br>
            <a:endParaRPr lang="en-IN" sz="24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4418" y="2888974"/>
            <a:ext cx="6612835" cy="3969026"/>
          </a:xfrm>
          <a:prstGeom prst="rect">
            <a:avLst/>
          </a:prstGeom>
        </p:spPr>
      </p:pic>
    </p:spTree>
    <p:extLst>
      <p:ext uri="{BB962C8B-B14F-4D97-AF65-F5344CB8AC3E}">
        <p14:creationId xmlns:p14="http://schemas.microsoft.com/office/powerpoint/2010/main" val="41610660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624109"/>
            <a:ext cx="9675811" cy="6015229"/>
          </a:xfrm>
        </p:spPr>
        <p:txBody>
          <a:bodyPr>
            <a:noAutofit/>
          </a:bodyPr>
          <a:lstStyle/>
          <a:p>
            <a:r>
              <a:rPr lang="en-US" sz="1600" dirty="0">
                <a:solidFill>
                  <a:srgbClr val="FF0000"/>
                </a:solidFill>
              </a:rPr>
              <a:t>Accoun</a:t>
            </a:r>
            <a:r>
              <a:rPr lang="en-US" sz="1600" dirty="0"/>
              <a:t>t - Details about your account, including the address, contact information, billing settings, and more. For a full list of topics that describe how to manage your account, see </a:t>
            </a:r>
            <a:r>
              <a:rPr lang="en-US" sz="1600" u="sng" dirty="0">
                <a:hlinkClick r:id="rId2"/>
              </a:rPr>
              <a:t>Managing your AWS account</a:t>
            </a:r>
            <a:r>
              <a:rPr lang="en-US" sz="1600" dirty="0"/>
              <a:t> in the </a:t>
            </a:r>
            <a:r>
              <a:rPr lang="en-US" sz="1600" i="1" dirty="0"/>
              <a:t>AWS Account Management Reference Guide</a:t>
            </a:r>
            <a:r>
              <a:rPr lang="en-US" sz="1600" dirty="0"/>
              <a:t>.</a:t>
            </a:r>
            <a:br>
              <a:rPr lang="en-US" sz="1600" dirty="0"/>
            </a:br>
            <a:r>
              <a:rPr lang="en-US" sz="1600" dirty="0" smtClean="0"/>
              <a:t/>
            </a:r>
            <a:br>
              <a:rPr lang="en-US" sz="1600" dirty="0" smtClean="0"/>
            </a:br>
            <a:r>
              <a:rPr lang="en-US" sz="1600" dirty="0" smtClean="0">
                <a:solidFill>
                  <a:srgbClr val="FF0000"/>
                </a:solidFill>
              </a:rPr>
              <a:t>Organization</a:t>
            </a:r>
            <a:r>
              <a:rPr lang="en-US" sz="1600" dirty="0"/>
              <a:t> - AWS Organizations is an account management service that enables you to consolidate multiple AWS accounts into an organization that you create and centrally manage. For more details, see the </a:t>
            </a:r>
            <a:r>
              <a:rPr lang="en-US" sz="1600" u="sng" dirty="0">
                <a:hlinkClick r:id="rId3"/>
              </a:rPr>
              <a:t>AWS Organizations User Guide</a:t>
            </a:r>
            <a:r>
              <a:rPr lang="en-US" sz="1600" dirty="0" smtClean="0"/>
              <a:t>.</a:t>
            </a:r>
            <a:br>
              <a:rPr lang="en-US" sz="1600" dirty="0" smtClean="0"/>
            </a:br>
            <a:r>
              <a:rPr lang="en-US" sz="1600" dirty="0"/>
              <a:t/>
            </a:r>
            <a:br>
              <a:rPr lang="en-US" sz="1600" dirty="0"/>
            </a:br>
            <a:r>
              <a:rPr lang="en-US" sz="1600" dirty="0" smtClean="0">
                <a:solidFill>
                  <a:srgbClr val="FF0000"/>
                </a:solidFill>
              </a:rPr>
              <a:t>Service </a:t>
            </a:r>
            <a:r>
              <a:rPr lang="en-US" sz="1600" dirty="0">
                <a:solidFill>
                  <a:srgbClr val="FF0000"/>
                </a:solidFill>
              </a:rPr>
              <a:t>Quotas</a:t>
            </a:r>
            <a:r>
              <a:rPr lang="en-US" sz="1600" dirty="0"/>
              <a:t> - Quotas, also referred to as limits in AWS services, are the maximum values for the resources, actions, and items in your AWS account. When a new account is created, there are default values, such as assigning five </a:t>
            </a:r>
            <a:r>
              <a:rPr lang="en-US" sz="1600" u="sng" dirty="0">
                <a:hlinkClick r:id="rId4"/>
              </a:rPr>
              <a:t>Elastic IP addresses</a:t>
            </a:r>
            <a:r>
              <a:rPr lang="en-US" sz="1600" dirty="0"/>
              <a:t>. These limits can be increased by logging a </a:t>
            </a:r>
            <a:r>
              <a:rPr lang="en-US" sz="1600" u="sng" dirty="0">
                <a:hlinkClick r:id="rId5"/>
              </a:rPr>
              <a:t>support ticket</a:t>
            </a:r>
            <a:r>
              <a:rPr lang="en-US" sz="1600" dirty="0"/>
              <a:t>. For more details, please see the </a:t>
            </a:r>
            <a:r>
              <a:rPr lang="en-US" sz="1600" u="sng" dirty="0">
                <a:hlinkClick r:id="rId6"/>
              </a:rPr>
              <a:t>quotas documentation</a:t>
            </a:r>
            <a:r>
              <a:rPr lang="en-US" sz="1600" dirty="0" smtClean="0"/>
              <a:t>.</a:t>
            </a:r>
            <a:br>
              <a:rPr lang="en-US" sz="1600" dirty="0" smtClean="0"/>
            </a:br>
            <a:r>
              <a:rPr lang="en-US" sz="1600" dirty="0"/>
              <a:t/>
            </a:r>
            <a:br>
              <a:rPr lang="en-US" sz="1600" dirty="0"/>
            </a:br>
            <a:r>
              <a:rPr lang="en-US" sz="1600" dirty="0" smtClean="0">
                <a:solidFill>
                  <a:srgbClr val="FF0000"/>
                </a:solidFill>
              </a:rPr>
              <a:t>Billing </a:t>
            </a:r>
            <a:r>
              <a:rPr lang="en-US" sz="1600" dirty="0">
                <a:solidFill>
                  <a:srgbClr val="FF0000"/>
                </a:solidFill>
              </a:rPr>
              <a:t>Dashboard</a:t>
            </a:r>
            <a:r>
              <a:rPr lang="en-US" sz="1600" dirty="0"/>
              <a:t> - You can use the dashboard page of the AWS Billing console to gain a general view of your AWS spending. For more details, see </a:t>
            </a:r>
            <a:r>
              <a:rPr lang="en-US" sz="1600" u="sng" dirty="0">
                <a:hlinkClick r:id="rId7"/>
              </a:rPr>
              <a:t>Using the AWS Billing console dashboard</a:t>
            </a:r>
            <a:r>
              <a:rPr lang="en-US" sz="1600" dirty="0"/>
              <a:t> in the </a:t>
            </a:r>
            <a:r>
              <a:rPr lang="en-US" sz="1600" i="1" dirty="0"/>
              <a:t>AWS Billing User Guide</a:t>
            </a:r>
            <a:r>
              <a:rPr lang="en-US" sz="1600" dirty="0" smtClean="0"/>
              <a:t>.</a:t>
            </a:r>
            <a:br>
              <a:rPr lang="en-US" sz="1600" dirty="0" smtClean="0"/>
            </a:br>
            <a:r>
              <a:rPr lang="en-US" sz="1600" dirty="0"/>
              <a:t/>
            </a:r>
            <a:br>
              <a:rPr lang="en-US" sz="1600" dirty="0"/>
            </a:br>
            <a:r>
              <a:rPr lang="en-US" sz="1600" dirty="0" smtClean="0">
                <a:solidFill>
                  <a:srgbClr val="FF0000"/>
                </a:solidFill>
              </a:rPr>
              <a:t>Security </a:t>
            </a:r>
            <a:r>
              <a:rPr lang="en-US" sz="1600" dirty="0">
                <a:solidFill>
                  <a:srgbClr val="FF0000"/>
                </a:solidFill>
              </a:rPr>
              <a:t>Credentials</a:t>
            </a:r>
            <a:r>
              <a:rPr lang="en-US" sz="1600" dirty="0"/>
              <a:t> - This link will take you to your AWS IAM user's page in the IAM part of the console where you can change your password, add 2 factor authentication, generate AWS API keys, and more. For more details, see the </a:t>
            </a:r>
            <a:r>
              <a:rPr lang="en-US" sz="1600" u="sng" dirty="0">
                <a:hlinkClick r:id="rId8"/>
              </a:rPr>
              <a:t>AWS Identity and Access Management User Guide</a:t>
            </a:r>
            <a:r>
              <a:rPr lang="en-US" sz="1600" dirty="0" smtClean="0"/>
              <a:t>.</a:t>
            </a:r>
            <a:br>
              <a:rPr lang="en-US" sz="1600" dirty="0" smtClean="0"/>
            </a:br>
            <a:r>
              <a:rPr lang="en-US" sz="1600" dirty="0"/>
              <a:t/>
            </a:r>
            <a:br>
              <a:rPr lang="en-US" sz="1600" dirty="0"/>
            </a:br>
            <a:r>
              <a:rPr lang="en-US" sz="1600" dirty="0" smtClean="0">
                <a:solidFill>
                  <a:srgbClr val="FF0000"/>
                </a:solidFill>
              </a:rPr>
              <a:t>Settings</a:t>
            </a:r>
            <a:r>
              <a:rPr lang="en-US" sz="1600" dirty="0"/>
              <a:t> - This link will take you to General Settings configuration page. From here you can manage console global settings such as default language and region as well preferences to optimize your console display experience.</a:t>
            </a:r>
            <a:br>
              <a:rPr lang="en-US" sz="1600" dirty="0"/>
            </a:br>
            <a:endParaRPr lang="en-IN" sz="1600" dirty="0"/>
          </a:p>
        </p:txBody>
      </p:sp>
    </p:spTree>
    <p:extLst>
      <p:ext uri="{BB962C8B-B14F-4D97-AF65-F5344CB8AC3E}">
        <p14:creationId xmlns:p14="http://schemas.microsoft.com/office/powerpoint/2010/main" val="75305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9288" y="624110"/>
            <a:ext cx="9755324" cy="1280890"/>
          </a:xfrm>
        </p:spPr>
        <p:txBody>
          <a:bodyPr/>
          <a:lstStyle/>
          <a:p>
            <a:r>
              <a:rPr lang="en-IN" dirty="0">
                <a:solidFill>
                  <a:srgbClr val="FF0000"/>
                </a:solidFill>
              </a:rPr>
              <a:t>AWS Service Selector</a:t>
            </a:r>
            <a:br>
              <a:rPr lang="en-IN" dirty="0">
                <a:solidFill>
                  <a:srgbClr val="FF0000"/>
                </a:solidFill>
              </a:rPr>
            </a:b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17296" y="1457740"/>
            <a:ext cx="4393651" cy="5260482"/>
          </a:xfrm>
          <a:prstGeom prst="rect">
            <a:avLst/>
          </a:prstGeom>
        </p:spPr>
      </p:pic>
    </p:spTree>
    <p:extLst>
      <p:ext uri="{BB962C8B-B14F-4D97-AF65-F5344CB8AC3E}">
        <p14:creationId xmlns:p14="http://schemas.microsoft.com/office/powerpoint/2010/main" val="15599323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1323" y="691344"/>
            <a:ext cx="9636054" cy="5856203"/>
          </a:xfrm>
        </p:spPr>
        <p:txBody>
          <a:bodyPr>
            <a:noAutofit/>
          </a:bodyPr>
          <a:lstStyle/>
          <a:p>
            <a:r>
              <a:rPr lang="en-US" sz="3200" dirty="0" smtClean="0">
                <a:solidFill>
                  <a:srgbClr val="FF0000"/>
                </a:solidFill>
              </a:rPr>
              <a:t>Service Selector</a:t>
            </a:r>
            <a:br>
              <a:rPr lang="en-US" sz="3200" dirty="0" smtClean="0">
                <a:solidFill>
                  <a:srgbClr val="FF0000"/>
                </a:solidFill>
              </a:rPr>
            </a:br>
            <a:r>
              <a:rPr lang="en-US" sz="3200" dirty="0" smtClean="0">
                <a:solidFill>
                  <a:srgbClr val="FF0000"/>
                </a:solidFill>
              </a:rPr>
              <a:t/>
            </a:r>
            <a:br>
              <a:rPr lang="en-US" sz="3200" dirty="0" smtClean="0">
                <a:solidFill>
                  <a:srgbClr val="FF0000"/>
                </a:solidFill>
              </a:rPr>
            </a:br>
            <a:r>
              <a:rPr lang="en-US" sz="2400" dirty="0" smtClean="0"/>
              <a:t>The </a:t>
            </a:r>
            <a:r>
              <a:rPr lang="en-US" sz="2400" dirty="0"/>
              <a:t>third highlighted menu is the AWS service selector. You can use this to navigate between services grouped by top-level categories, such as Compute, which includes Amazon EC2, along with other services like AWS Elastic Beanstalk and Amazon </a:t>
            </a:r>
            <a:r>
              <a:rPr lang="en-US" sz="2400" dirty="0" err="1"/>
              <a:t>Lightsail</a:t>
            </a:r>
            <a:r>
              <a:rPr lang="en-US" sz="2400" dirty="0"/>
              <a:t>. This is a great way to explore the various services by category, especially if you are new to AWS</a:t>
            </a:r>
            <a:r>
              <a:rPr lang="en-US" sz="2400" dirty="0" smtClean="0"/>
              <a:t>.</a:t>
            </a:r>
            <a:br>
              <a:rPr lang="en-US" sz="2400" dirty="0" smtClean="0"/>
            </a:br>
            <a:r>
              <a:rPr lang="en-US" sz="2400" dirty="0"/>
              <a:t> </a:t>
            </a:r>
            <a:br>
              <a:rPr lang="en-US" sz="2400" dirty="0"/>
            </a:br>
            <a:r>
              <a:rPr lang="en-US" sz="2400" dirty="0"/>
              <a:t>You can also mark services as favorites by selecting the star next to their names, which will pin them to the navigation bar. This can be done anywhere you see the star, including the search box.</a:t>
            </a:r>
            <a:br>
              <a:rPr lang="en-US" sz="2400" dirty="0"/>
            </a:br>
            <a:endParaRPr lang="en-IN" sz="2400" dirty="0"/>
          </a:p>
        </p:txBody>
      </p:sp>
    </p:spTree>
    <p:extLst>
      <p:ext uri="{BB962C8B-B14F-4D97-AF65-F5344CB8AC3E}">
        <p14:creationId xmlns:p14="http://schemas.microsoft.com/office/powerpoint/2010/main" val="2117316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63125" y="529980"/>
            <a:ext cx="9781828" cy="1280890"/>
          </a:xfrm>
        </p:spPr>
        <p:txBody>
          <a:bodyPr>
            <a:normAutofit fontScale="90000"/>
          </a:bodyPr>
          <a:lstStyle/>
          <a:p>
            <a:r>
              <a:rPr lang="en-US" dirty="0">
                <a:solidFill>
                  <a:srgbClr val="FF0000"/>
                </a:solidFill>
              </a:rPr>
              <a:t>AWS </a:t>
            </a:r>
            <a:r>
              <a:rPr lang="en-US" dirty="0" smtClean="0">
                <a:solidFill>
                  <a:srgbClr val="FF0000"/>
                </a:solidFill>
              </a:rPr>
              <a:t>Search</a:t>
            </a:r>
            <a:r>
              <a:rPr lang="en-US" dirty="0" smtClean="0">
                <a:solidFill>
                  <a:srgbClr val="FF0000"/>
                </a:solidFill>
              </a:rPr>
              <a:t/>
            </a:r>
            <a:br>
              <a:rPr lang="en-US" dirty="0" smtClean="0">
                <a:solidFill>
                  <a:srgbClr val="FF0000"/>
                </a:solidFill>
              </a:rPr>
            </a:br>
            <a:r>
              <a:rPr lang="en-US" sz="2200" dirty="0" smtClean="0"/>
              <a:t>The </a:t>
            </a:r>
            <a:r>
              <a:rPr lang="en-US" sz="2200" dirty="0"/>
              <a:t>fourth highlighted item is the search box. When you enter text into the box, the underlying search engine searches across a number of different locations to match the text that you entered. It will return matches in eight sections:</a:t>
            </a:r>
            <a:br>
              <a:rPr lang="en-US" sz="2200" dirty="0"/>
            </a:br>
            <a:endParaRPr lang="en-IN" sz="2200"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1471" y="2555332"/>
            <a:ext cx="8149057" cy="3949147"/>
          </a:xfrm>
          <a:prstGeom prst="rect">
            <a:avLst/>
          </a:prstGeom>
        </p:spPr>
      </p:pic>
    </p:spTree>
    <p:extLst>
      <p:ext uri="{BB962C8B-B14F-4D97-AF65-F5344CB8AC3E}">
        <p14:creationId xmlns:p14="http://schemas.microsoft.com/office/powerpoint/2010/main" val="34265719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558" y="624109"/>
            <a:ext cx="9636054" cy="5975473"/>
          </a:xfrm>
        </p:spPr>
        <p:txBody>
          <a:bodyPr>
            <a:normAutofit fontScale="90000"/>
          </a:bodyPr>
          <a:lstStyle/>
          <a:p>
            <a:r>
              <a:rPr lang="en-IN" dirty="0" smtClean="0">
                <a:solidFill>
                  <a:srgbClr val="FF0000"/>
                </a:solidFill>
              </a:rPr>
              <a:t>AWS </a:t>
            </a:r>
            <a:r>
              <a:rPr lang="en-IN" dirty="0" smtClean="0">
                <a:solidFill>
                  <a:srgbClr val="FF0000"/>
                </a:solidFill>
              </a:rPr>
              <a:t>Search</a:t>
            </a:r>
            <a:br>
              <a:rPr lang="en-IN" dirty="0" smtClean="0">
                <a:solidFill>
                  <a:srgbClr val="FF0000"/>
                </a:solidFill>
              </a:rPr>
            </a:br>
            <a:r>
              <a:rPr lang="en-IN" dirty="0" smtClean="0">
                <a:solidFill>
                  <a:srgbClr val="FF0000"/>
                </a:solidFill>
              </a:rPr>
              <a:t/>
            </a:r>
            <a:br>
              <a:rPr lang="en-IN" dirty="0" smtClean="0">
                <a:solidFill>
                  <a:srgbClr val="FF0000"/>
                </a:solidFill>
              </a:rPr>
            </a:br>
            <a:r>
              <a:rPr lang="en-US" sz="2700" dirty="0">
                <a:solidFill>
                  <a:srgbClr val="FF0000"/>
                </a:solidFill>
              </a:rPr>
              <a:t>Services</a:t>
            </a:r>
            <a:r>
              <a:rPr lang="en-US" sz="2700" dirty="0"/>
              <a:t>: List of AWS </a:t>
            </a:r>
            <a:r>
              <a:rPr lang="en-US" sz="2700" dirty="0" smtClean="0"/>
              <a:t>services</a:t>
            </a:r>
            <a:br>
              <a:rPr lang="en-US" sz="2700" dirty="0" smtClean="0"/>
            </a:br>
            <a:r>
              <a:rPr lang="en-US" sz="2700" dirty="0" smtClean="0">
                <a:solidFill>
                  <a:srgbClr val="FF0000"/>
                </a:solidFill>
              </a:rPr>
              <a:t>Features</a:t>
            </a:r>
            <a:r>
              <a:rPr lang="en-US" sz="2700" dirty="0"/>
              <a:t>: List of features of AWS services</a:t>
            </a:r>
            <a:br>
              <a:rPr lang="en-US" sz="2700" dirty="0"/>
            </a:br>
            <a:r>
              <a:rPr lang="en-US" sz="2700" dirty="0">
                <a:solidFill>
                  <a:srgbClr val="FF0000"/>
                </a:solidFill>
              </a:rPr>
              <a:t>Blogs</a:t>
            </a:r>
            <a:r>
              <a:rPr lang="en-US" sz="2700" dirty="0"/>
              <a:t>: Posts from the AWS blog</a:t>
            </a:r>
            <a:br>
              <a:rPr lang="en-US" sz="2700" dirty="0"/>
            </a:br>
            <a:r>
              <a:rPr lang="en-US" sz="2700" dirty="0">
                <a:solidFill>
                  <a:srgbClr val="FF0000"/>
                </a:solidFill>
              </a:rPr>
              <a:t>Documentation</a:t>
            </a:r>
            <a:r>
              <a:rPr lang="en-US" sz="2700" dirty="0"/>
              <a:t>: AWS Documentation</a:t>
            </a:r>
            <a:br>
              <a:rPr lang="en-US" sz="2700" dirty="0"/>
            </a:br>
            <a:r>
              <a:rPr lang="en-US" sz="2700" dirty="0">
                <a:solidFill>
                  <a:srgbClr val="FF0000"/>
                </a:solidFill>
              </a:rPr>
              <a:t>Knowledge Articles</a:t>
            </a:r>
            <a:r>
              <a:rPr lang="en-US" sz="2700" dirty="0"/>
              <a:t>: AWS Premium Support Knowledge Center</a:t>
            </a:r>
            <a:br>
              <a:rPr lang="en-US" sz="2700" dirty="0"/>
            </a:br>
            <a:r>
              <a:rPr lang="en-US" sz="2700" dirty="0">
                <a:solidFill>
                  <a:srgbClr val="FF0000"/>
                </a:solidFill>
              </a:rPr>
              <a:t>Tutorials</a:t>
            </a:r>
            <a:r>
              <a:rPr lang="en-US" sz="2700" dirty="0"/>
              <a:t>: Hands-on guides from the AWS Getting Started Resource Center</a:t>
            </a:r>
            <a:br>
              <a:rPr lang="en-US" sz="2700" dirty="0"/>
            </a:br>
            <a:r>
              <a:rPr lang="en-US" sz="2700" dirty="0">
                <a:solidFill>
                  <a:srgbClr val="FF0000"/>
                </a:solidFill>
              </a:rPr>
              <a:t>Events</a:t>
            </a:r>
            <a:r>
              <a:rPr lang="en-US" sz="2700" dirty="0"/>
              <a:t>: AWS hosted events that are upcoming, or available on-demand</a:t>
            </a:r>
            <a:br>
              <a:rPr lang="en-US" sz="2700" dirty="0"/>
            </a:br>
            <a:r>
              <a:rPr lang="en-US" sz="2700" dirty="0">
                <a:solidFill>
                  <a:srgbClr val="FF0000"/>
                </a:solidFill>
              </a:rPr>
              <a:t>Marketplace</a:t>
            </a:r>
            <a:r>
              <a:rPr lang="en-US" sz="2700" dirty="0"/>
              <a:t>: AWS Marketplace offerings that you can deploy in your AWS account</a:t>
            </a:r>
            <a:br>
              <a:rPr lang="en-US" sz="2700" dirty="0"/>
            </a:br>
            <a:endParaRPr lang="en-IN" sz="2700" dirty="0">
              <a:solidFill>
                <a:srgbClr val="FF0000"/>
              </a:solidFill>
            </a:endParaRPr>
          </a:p>
        </p:txBody>
      </p:sp>
    </p:spTree>
    <p:extLst>
      <p:ext uri="{BB962C8B-B14F-4D97-AF65-F5344CB8AC3E}">
        <p14:creationId xmlns:p14="http://schemas.microsoft.com/office/powerpoint/2010/main" val="927780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9530" y="624109"/>
            <a:ext cx="9795081" cy="6134499"/>
          </a:xfrm>
        </p:spPr>
        <p:txBody>
          <a:bodyPr>
            <a:noAutofit/>
          </a:bodyPr>
          <a:lstStyle/>
          <a:p>
            <a:r>
              <a:rPr lang="en-US" sz="2800" dirty="0">
                <a:solidFill>
                  <a:srgbClr val="FF0000"/>
                </a:solidFill>
              </a:rPr>
              <a:t>AWS </a:t>
            </a:r>
            <a:r>
              <a:rPr lang="en-US" sz="2800" dirty="0" err="1" smtClean="0">
                <a:solidFill>
                  <a:srgbClr val="FF0000"/>
                </a:solidFill>
              </a:rPr>
              <a:t>CloudShell</a:t>
            </a:r>
            <a:r>
              <a:rPr lang="en-US" sz="2800" dirty="0" smtClean="0">
                <a:solidFill>
                  <a:srgbClr val="FF0000"/>
                </a:solidFill>
              </a:rPr>
              <a:t/>
            </a:r>
            <a:br>
              <a:rPr lang="en-US" sz="2800" dirty="0" smtClean="0">
                <a:solidFill>
                  <a:srgbClr val="FF0000"/>
                </a:solidFill>
              </a:rPr>
            </a:br>
            <a:r>
              <a:rPr lang="en-US" sz="2800" dirty="0">
                <a:solidFill>
                  <a:srgbClr val="FF0000"/>
                </a:solidFill>
              </a:rPr>
              <a:t/>
            </a:r>
            <a:br>
              <a:rPr lang="en-US" sz="2800" dirty="0">
                <a:solidFill>
                  <a:srgbClr val="FF0000"/>
                </a:solidFill>
              </a:rPr>
            </a:br>
            <a:r>
              <a:rPr lang="en-US" sz="2400" dirty="0"/>
              <a:t>The fifth highlighted item is the AWS </a:t>
            </a:r>
            <a:r>
              <a:rPr lang="en-US" sz="2400" dirty="0" err="1"/>
              <a:t>CloudShell</a:t>
            </a:r>
            <a:r>
              <a:rPr lang="en-US" sz="2400" dirty="0"/>
              <a:t> icon. By selecting this icon, you will launch a browser-based shell environment that is pre-authenticated with your console credentials. Use this to execute AWS CLI commands or scripts using the AWS CDK from your browser. If you add any files to </a:t>
            </a:r>
            <a:r>
              <a:rPr lang="en-US" sz="2400" dirty="0" err="1"/>
              <a:t>CloudShell</a:t>
            </a:r>
            <a:r>
              <a:rPr lang="en-US" sz="2400" dirty="0"/>
              <a:t> (up to the 1GB limit), it will persist the files between sessions</a:t>
            </a:r>
            <a:r>
              <a:rPr lang="en-US" sz="2400" dirty="0" smtClean="0"/>
              <a:t>.</a:t>
            </a:r>
            <a:br>
              <a:rPr lang="en-US" sz="2400" dirty="0" smtClean="0"/>
            </a:br>
            <a:r>
              <a:rPr lang="en-US" sz="2400" dirty="0"/>
              <a:t/>
            </a:r>
            <a:br>
              <a:rPr lang="en-US" sz="2400" dirty="0"/>
            </a:br>
            <a:r>
              <a:rPr lang="en-US" sz="2400" dirty="0" err="1"/>
              <a:t>CloudShell</a:t>
            </a:r>
            <a:r>
              <a:rPr lang="en-US" sz="2400" dirty="0"/>
              <a:t> is a useful tool for securely interacting with your AWS account, and is Region specific, so any files that you upload are specific to that Region. The current selected Region is displayed in orange above the terminal.</a:t>
            </a:r>
            <a:br>
              <a:rPr lang="en-US" sz="2400" dirty="0"/>
            </a:br>
            <a:endParaRPr lang="en-IN" sz="2400" dirty="0"/>
          </a:p>
        </p:txBody>
      </p:sp>
    </p:spTree>
    <p:extLst>
      <p:ext uri="{BB962C8B-B14F-4D97-AF65-F5344CB8AC3E}">
        <p14:creationId xmlns:p14="http://schemas.microsoft.com/office/powerpoint/2010/main" val="8728170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36036" y="624110"/>
            <a:ext cx="9768576" cy="1280890"/>
          </a:xfrm>
        </p:spPr>
        <p:txBody>
          <a:bodyPr/>
          <a:lstStyle/>
          <a:p>
            <a:r>
              <a:rPr lang="en-IN" dirty="0" smtClean="0">
                <a:solidFill>
                  <a:srgbClr val="FF0000"/>
                </a:solidFill>
              </a:rPr>
              <a:t>AWS </a:t>
            </a:r>
            <a:r>
              <a:rPr lang="en-IN" dirty="0" err="1" smtClean="0">
                <a:solidFill>
                  <a:srgbClr val="FF0000"/>
                </a:solidFill>
              </a:rPr>
              <a:t>CloudShell</a:t>
            </a:r>
            <a:endParaRPr lang="en-IN" dirty="0">
              <a:solidFill>
                <a:srgbClr val="FF0000"/>
              </a:solidFill>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7790" y="2170871"/>
            <a:ext cx="7675079" cy="3289024"/>
          </a:xfrm>
          <a:prstGeom prst="rect">
            <a:avLst/>
          </a:prstGeom>
        </p:spPr>
      </p:pic>
    </p:spTree>
    <p:extLst>
      <p:ext uri="{BB962C8B-B14F-4D97-AF65-F5344CB8AC3E}">
        <p14:creationId xmlns:p14="http://schemas.microsoft.com/office/powerpoint/2010/main" val="3255483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3270" y="624110"/>
            <a:ext cx="9861341" cy="701107"/>
          </a:xfrm>
        </p:spPr>
        <p:txBody>
          <a:bodyPr>
            <a:normAutofit fontScale="90000"/>
          </a:bodyPr>
          <a:lstStyle/>
          <a:p>
            <a:r>
              <a:rPr lang="en-IN" dirty="0">
                <a:solidFill>
                  <a:srgbClr val="FF0000"/>
                </a:solidFill>
              </a:rPr>
              <a:t>AWS Dashboard Widgets</a:t>
            </a:r>
            <a:r>
              <a:rPr lang="en-IN" dirty="0"/>
              <a:t/>
            </a:r>
            <a:br>
              <a:rPr lang="en-IN" dirty="0"/>
            </a:b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584" y="1192696"/>
            <a:ext cx="8362120" cy="5473147"/>
          </a:xfrm>
          <a:prstGeom prst="rect">
            <a:avLst/>
          </a:prstGeom>
        </p:spPr>
      </p:pic>
    </p:spTree>
    <p:extLst>
      <p:ext uri="{BB962C8B-B14F-4D97-AF65-F5344CB8AC3E}">
        <p14:creationId xmlns:p14="http://schemas.microsoft.com/office/powerpoint/2010/main" val="36110707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3270" y="624109"/>
            <a:ext cx="9861341" cy="5842951"/>
          </a:xfrm>
        </p:spPr>
        <p:txBody>
          <a:bodyPr>
            <a:noAutofit/>
          </a:bodyPr>
          <a:lstStyle/>
          <a:p>
            <a:r>
              <a:rPr lang="en-IN" sz="2400" dirty="0">
                <a:solidFill>
                  <a:srgbClr val="FF0000"/>
                </a:solidFill>
              </a:rPr>
              <a:t>AWS Dashboard </a:t>
            </a:r>
            <a:r>
              <a:rPr lang="en-IN" sz="2400" dirty="0" smtClean="0">
                <a:solidFill>
                  <a:srgbClr val="FF0000"/>
                </a:solidFill>
              </a:rPr>
              <a:t>Widgets</a:t>
            </a:r>
            <a:r>
              <a:rPr lang="en-IN" sz="2000" dirty="0" smtClean="0">
                <a:solidFill>
                  <a:srgbClr val="FF0000"/>
                </a:solidFill>
              </a:rPr>
              <a:t/>
            </a:r>
            <a:br>
              <a:rPr lang="en-IN" sz="2000" dirty="0" smtClean="0">
                <a:solidFill>
                  <a:srgbClr val="FF0000"/>
                </a:solidFill>
              </a:rPr>
            </a:br>
            <a:r>
              <a:rPr lang="en-US" sz="2000" dirty="0"/>
              <a:t>The dashboard also contains a number of widgets to help you get started. We will discuss the widgets that appear by default, but you can move and resize these, or add different ones from the "Actions" dropdown. Three of the widgets provide you with static links to learn how to build a solution or to explore AWS (Welcome to AWS, Build a solution, and Explore AWS). The other five are dynamic and provide important information about AWS services, your AWS costs and usage, and best practices:</a:t>
            </a:r>
            <a:br>
              <a:rPr lang="en-US" sz="2000" dirty="0"/>
            </a:br>
            <a:r>
              <a:rPr lang="en-US" sz="2000" dirty="0"/>
              <a:t/>
            </a:r>
            <a:br>
              <a:rPr lang="en-US" sz="2000" dirty="0"/>
            </a:br>
            <a:r>
              <a:rPr lang="en-US" sz="2000" dirty="0">
                <a:solidFill>
                  <a:srgbClr val="FF0000"/>
                </a:solidFill>
              </a:rPr>
              <a:t>AWS Health</a:t>
            </a:r>
            <a:r>
              <a:rPr lang="en-US" sz="2000" dirty="0"/>
              <a:t>: information on events that might affect your AWS infrastructure and </a:t>
            </a:r>
            <a:r>
              <a:rPr lang="en-US" sz="2000" dirty="0" smtClean="0"/>
              <a:t>account</a:t>
            </a:r>
            <a:br>
              <a:rPr lang="en-US" sz="2000" dirty="0" smtClean="0"/>
            </a:br>
            <a:r>
              <a:rPr lang="en-US" sz="2000" dirty="0"/>
              <a:t/>
            </a:r>
            <a:br>
              <a:rPr lang="en-US" sz="2000" dirty="0"/>
            </a:br>
            <a:r>
              <a:rPr lang="en-US" sz="2000" dirty="0">
                <a:solidFill>
                  <a:srgbClr val="FF0000"/>
                </a:solidFill>
              </a:rPr>
              <a:t>Cost and usage</a:t>
            </a:r>
            <a:r>
              <a:rPr lang="en-US" sz="2000" dirty="0"/>
              <a:t>: an overview of service costs, with a breakdown by AWS service</a:t>
            </a:r>
            <a:br>
              <a:rPr lang="en-US" sz="2000" dirty="0"/>
            </a:br>
            <a:r>
              <a:rPr lang="en-US" sz="2000" dirty="0">
                <a:solidFill>
                  <a:srgbClr val="FF0000"/>
                </a:solidFill>
              </a:rPr>
              <a:t>Favorites</a:t>
            </a:r>
            <a:r>
              <a:rPr lang="en-US" sz="2000" dirty="0"/>
              <a:t>: a list of your favorite AWS </a:t>
            </a:r>
            <a:r>
              <a:rPr lang="en-US" sz="2000" dirty="0" smtClean="0"/>
              <a:t>services</a:t>
            </a:r>
            <a:br>
              <a:rPr lang="en-US" sz="2000" dirty="0" smtClean="0"/>
            </a:br>
            <a:r>
              <a:rPr lang="en-US" sz="2000" dirty="0"/>
              <a:t/>
            </a:r>
            <a:br>
              <a:rPr lang="en-US" sz="2000" dirty="0"/>
            </a:br>
            <a:r>
              <a:rPr lang="en-US" sz="2000" dirty="0">
                <a:solidFill>
                  <a:srgbClr val="FF0000"/>
                </a:solidFill>
              </a:rPr>
              <a:t>Recently visited</a:t>
            </a:r>
            <a:r>
              <a:rPr lang="en-US" sz="2000" dirty="0"/>
              <a:t>: a list of top recently visited services</a:t>
            </a:r>
            <a:br>
              <a:rPr lang="en-US" sz="2000" dirty="0"/>
            </a:br>
            <a:r>
              <a:rPr lang="en-US" sz="2000" dirty="0">
                <a:solidFill>
                  <a:srgbClr val="FF0000"/>
                </a:solidFill>
              </a:rPr>
              <a:t>Trusted Advisor</a:t>
            </a:r>
            <a:r>
              <a:rPr lang="en-US" sz="2000" dirty="0"/>
              <a:t>: recommendations to follow AWS best practices</a:t>
            </a:r>
            <a:br>
              <a:rPr lang="en-US" sz="2000" dirty="0"/>
            </a:br>
            <a:r>
              <a:rPr lang="en-IN" sz="2000" dirty="0"/>
              <a:t/>
            </a:r>
            <a:br>
              <a:rPr lang="en-IN" sz="2000" dirty="0"/>
            </a:br>
            <a:endParaRPr lang="en-IN" sz="2000" dirty="0"/>
          </a:p>
        </p:txBody>
      </p:sp>
    </p:spTree>
    <p:extLst>
      <p:ext uri="{BB962C8B-B14F-4D97-AF65-F5344CB8AC3E}">
        <p14:creationId xmlns:p14="http://schemas.microsoft.com/office/powerpoint/2010/main" val="3812113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1810" y="624110"/>
            <a:ext cx="9622802" cy="1280890"/>
          </a:xfrm>
        </p:spPr>
        <p:txBody>
          <a:bodyPr>
            <a:normAutofit fontScale="90000"/>
          </a:bodyPr>
          <a:lstStyle/>
          <a:p>
            <a:r>
              <a:rPr lang="en-IN" dirty="0" smtClean="0">
                <a:solidFill>
                  <a:srgbClr val="FF0000"/>
                </a:solidFill>
              </a:rPr>
              <a:t>CONCLUSION</a:t>
            </a:r>
            <a:r>
              <a:rPr lang="en-IN" dirty="0">
                <a:solidFill>
                  <a:srgbClr val="FF0000"/>
                </a:solidFill>
              </a:rPr>
              <a:t/>
            </a:r>
            <a:br>
              <a:rPr lang="en-IN" dirty="0">
                <a:solidFill>
                  <a:srgbClr val="FF0000"/>
                </a:solidFill>
              </a:rPr>
            </a:br>
            <a:r>
              <a:rPr lang="en-US" dirty="0"/>
              <a:t/>
            </a:r>
            <a:br>
              <a:rPr lang="en-US" dirty="0"/>
            </a:br>
            <a:r>
              <a:rPr lang="en-US" dirty="0"/>
              <a:t>Congratulations! You have finished the Getting Started with the AWS Management Console getting started guide. </a:t>
            </a:r>
            <a:br>
              <a:rPr lang="en-US" dirty="0"/>
            </a:br>
            <a:r>
              <a:rPr lang="en-US" dirty="0"/>
              <a:t>In this guide, you learned about the various parts of the AWS Management Console dashboard, and how to use the dashboard to navigate to services and account and billing information; search for services, features, articles, and guides; and view your billing dashboard.</a:t>
            </a:r>
            <a:br>
              <a:rPr lang="en-US" dirty="0"/>
            </a:br>
            <a:endParaRPr lang="en-IN" dirty="0">
              <a:solidFill>
                <a:srgbClr val="FF0000"/>
              </a:solidFill>
            </a:endParaRPr>
          </a:p>
        </p:txBody>
      </p:sp>
    </p:spTree>
    <p:extLst>
      <p:ext uri="{BB962C8B-B14F-4D97-AF65-F5344CB8AC3E}">
        <p14:creationId xmlns:p14="http://schemas.microsoft.com/office/powerpoint/2010/main" val="2315734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99647" y="2958353"/>
            <a:ext cx="7604964" cy="2205317"/>
          </a:xfrm>
        </p:spPr>
        <p:txBody>
          <a:bodyPr>
            <a:normAutofit/>
          </a:bodyPr>
          <a:lstStyle/>
          <a:p>
            <a:r>
              <a:rPr lang="en-IN" sz="4400" dirty="0" smtClean="0"/>
              <a:t>THANK YOU </a:t>
            </a:r>
            <a:endParaRPr lang="en-IN" sz="4400" dirty="0"/>
          </a:p>
        </p:txBody>
      </p:sp>
    </p:spTree>
    <p:extLst>
      <p:ext uri="{BB962C8B-B14F-4D97-AF65-F5344CB8AC3E}">
        <p14:creationId xmlns:p14="http://schemas.microsoft.com/office/powerpoint/2010/main" val="332805291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docProps/app.xml><?xml version="1.0" encoding="utf-8"?>
<Properties xmlns="http://schemas.openxmlformats.org/officeDocument/2006/extended-properties" xmlns:vt="http://schemas.openxmlformats.org/officeDocument/2006/docPropsVTypes">
  <Template>Wisp</Template>
  <TotalTime>261</TotalTime>
  <Words>165</Words>
  <Application>Microsoft Office PowerPoint</Application>
  <PresentationFormat>Widescreen</PresentationFormat>
  <Paragraphs>37</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Century Gothic</vt:lpstr>
      <vt:lpstr>Wingdings 3</vt:lpstr>
      <vt:lpstr>Wisp</vt:lpstr>
      <vt:lpstr>Cloud Computing For Emerging Technologies</vt:lpstr>
      <vt:lpstr>What is Cloud Computing?  Cloud Computing means storing and accessing the data and programs on remote servers that are hosted on the internet instead of the computer’s hard drive or local server. Cloud computing is also referred to as Internet-based computing, it is a technology where the resource is provided as a service through the Internet to the user. The data that is stored can be files, images, documents, or any other storable document.</vt:lpstr>
      <vt:lpstr>The following are some of the Operations that can be performed with Cloud Computing   1.Storage, backup, and recovery of data  2.Delivery of software on demand  3.Development of new applications and services  4.Streaming videos and audio </vt:lpstr>
      <vt:lpstr>Setting Up Cloud Account AWS(Amazon Web Services)</vt:lpstr>
      <vt:lpstr>Step2: Give your root user mail address</vt:lpstr>
      <vt:lpstr>Step 3: Verify your mail address</vt:lpstr>
      <vt:lpstr>Step 4: Security Verification</vt:lpstr>
      <vt:lpstr>Step 5: Contact Information</vt:lpstr>
      <vt:lpstr>Step 6: Payment Method</vt:lpstr>
      <vt:lpstr>Step 7: Payment gateway and payment information and your credit card</vt:lpstr>
      <vt:lpstr>Step 8: Phone Verification</vt:lpstr>
      <vt:lpstr>Step 9: Confirming your identity</vt:lpstr>
      <vt:lpstr>Step 10: Registration Confirming Page</vt:lpstr>
      <vt:lpstr>Login In To The AWS Console  Step 1:Open your web browser, navigate to https://aws.amazon.com/console/, and Click on sign-in to the console.</vt:lpstr>
      <vt:lpstr>Step 2: Enter the username which you have chosen while creating the account and click on Next. </vt:lpstr>
      <vt:lpstr>Step 3: Enter the password, associated with the user and then click on Sign in</vt:lpstr>
      <vt:lpstr>Step 4: You can see the below home screen after you log in.   </vt:lpstr>
      <vt:lpstr>Console Home  After signing up for a new AWS account and logging in, you will see the console dashboard. This is the starting point for interacting with the various AWS services and other important console components. The dashboard consists of a navigation bar at the top and a number of widgets in the main body of the page, which you can configure and rearrange. AWS is developing more widgets so you can further customize your console experience.  We will start by taking a look at the navigation bar at the top. In the image to the right, we have highlighted five controls within the navigation bar:  </vt:lpstr>
      <vt:lpstr>1.Account information 2.Region selector 3.Service selector 4.Search box 5.AWS CloudShell </vt:lpstr>
      <vt:lpstr>AWS Account Information  The first highlighted menu contains information and links for your account. It displays the AWS Account ID, and the current user logged in to the console, along with links to navigate to the following pages: </vt:lpstr>
      <vt:lpstr>Account - Details about your account, including the address, contact information, billing settings, and more. For a full list of topics that describe how to manage your account, see Managing your AWS account in the AWS Account Management Reference Guide.  Organization - AWS Organizations is an account management service that enables you to consolidate multiple AWS accounts into an organization that you create and centrally manage. For more details, see the AWS Organizations User Guide.  Service Quotas - Quotas, also referred to as limits in AWS services, are the maximum values for the resources, actions, and items in your AWS account. When a new account is created, there are default values, such as assigning five Elastic IP addresses. These limits can be increased by logging a support ticket. For more details, please see the quotas documentation.  Billing Dashboard - You can use the dashboard page of the AWS Billing console to gain a general view of your AWS spending. For more details, see Using the AWS Billing console dashboard in the AWS Billing User Guide.  Security Credentials - This link will take you to your AWS IAM user's page in the IAM part of the console where you can change your password, add 2 factor authentication, generate AWS API keys, and more. For more details, see the AWS Identity and Access Management User Guide.  Settings - This link will take you to General Settings configuration page. From here you can manage console global settings such as default language and region as well preferences to optimize your console display experience. </vt:lpstr>
      <vt:lpstr>AWS Service Selector </vt:lpstr>
      <vt:lpstr>Service Selector  The third highlighted menu is the AWS service selector. You can use this to navigate between services grouped by top-level categories, such as Compute, which includes Amazon EC2, along with other services like AWS Elastic Beanstalk and Amazon Lightsail. This is a great way to explore the various services by category, especially if you are new to AWS.   You can also mark services as favorites by selecting the star next to their names, which will pin them to the navigation bar. This can be done anywhere you see the star, including the search box. </vt:lpstr>
      <vt:lpstr>AWS Search The fourth highlighted item is the search box. When you enter text into the box, the underlying search engine searches across a number of different locations to match the text that you entered. It will return matches in eight sections: </vt:lpstr>
      <vt:lpstr>AWS Search  Services: List of AWS services Features: List of features of AWS services Blogs: Posts from the AWS blog Documentation: AWS Documentation Knowledge Articles: AWS Premium Support Knowledge Center Tutorials: Hands-on guides from the AWS Getting Started Resource Center Events: AWS hosted events that are upcoming, or available on-demand Marketplace: AWS Marketplace offerings that you can deploy in your AWS account </vt:lpstr>
      <vt:lpstr>AWS CloudShell  The fifth highlighted item is the AWS CloudShell icon. By selecting this icon, you will launch a browser-based shell environment that is pre-authenticated with your console credentials. Use this to execute AWS CLI commands or scripts using the AWS CDK from your browser. If you add any files to CloudShell (up to the 1GB limit), it will persist the files between sessions.  CloudShell is a useful tool for securely interacting with your AWS account, and is Region specific, so any files that you upload are specific to that Region. The current selected Region is displayed in orange above the terminal. </vt:lpstr>
      <vt:lpstr>AWS CloudShell</vt:lpstr>
      <vt:lpstr>AWS Dashboard Widgets </vt:lpstr>
      <vt:lpstr>AWS Dashboard Widgets The dashboard also contains a number of widgets to help you get started. We will discuss the widgets that appear by default, but you can move and resize these, or add different ones from the "Actions" dropdown. Three of the widgets provide you with static links to learn how to build a solution or to explore AWS (Welcome to AWS, Build a solution, and Explore AWS). The other five are dynamic and provide important information about AWS services, your AWS costs and usage, and best practices:  AWS Health: information on events that might affect your AWS infrastructure and account  Cost and usage: an overview of service costs, with a breakdown by AWS service Favorites: a list of your favorite AWS services  Recently visited: a list of top recently visited services Trusted Advisor: recommendations to follow AWS best practices  </vt:lpstr>
      <vt:lpstr>CONCLUSION  Congratulations! You have finished the Getting Started with the AWS Management Console getting started guide.  In this guide, you learned about the various parts of the AWS Management Console dashboard, and how to use the dashboard to navigate to services and account and billing information; search for services, features, articles, and guides; and view your billing dashboard.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 Computing For Emerging Technologies</dc:title>
  <dc:creator>HIREMATH</dc:creator>
  <cp:lastModifiedBy>HIREMATH</cp:lastModifiedBy>
  <cp:revision>16</cp:revision>
  <dcterms:created xsi:type="dcterms:W3CDTF">2025-02-27T13:59:27Z</dcterms:created>
  <dcterms:modified xsi:type="dcterms:W3CDTF">2025-02-28T12:36:44Z</dcterms:modified>
</cp:coreProperties>
</file>